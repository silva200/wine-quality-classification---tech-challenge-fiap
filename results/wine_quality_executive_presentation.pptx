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B2320"/>
                </a:solidFill>
                <a:latin typeface="Arial"/>
              </a:defRPr>
            </a:pPr>
            <a:r>
              <a:rPr sz="1400" b="0" i="0" u="none" strike="noStrike">
                <a:solidFill>
                  <a:srgbClr val="2B2320"/>
                </a:solidFill>
                <a:latin typeface="Arial"/>
              </a:rPr>
              <a:t>Distribuição da nota de qualidade (0-10)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Amostras</c:v>
                </c:pt>
              </c:strCache>
            </c:strRef>
          </c:tx>
          <c:spPr>
            <a:solidFill>
              <a:srgbClr val="99001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B232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3</c:v>
                  </c:pt>
                  <c:pt idx="1">
                    <c:v>4</c:v>
                  </c:pt>
                  <c:pt idx="2">
                    <c:v>5</c:v>
                  </c:pt>
                  <c:pt idx="3">
                    <c:v>6</c:v>
                  </c:pt>
                  <c:pt idx="4">
                    <c:v>7</c:v>
                  </c:pt>
                  <c:pt idx="5">
                    <c:v>8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</c:v>
                </c:pt>
                <c:pt idx="1">
                  <c:v>53</c:v>
                </c:pt>
                <c:pt idx="2">
                  <c:v>577</c:v>
                </c:pt>
                <c:pt idx="3">
                  <c:v>535</c:v>
                </c:pt>
                <c:pt idx="4">
                  <c:v>167</c:v>
                </c:pt>
                <c:pt idx="5">
                  <c:v>17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2B232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6F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AE0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6F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Correlação</c:v>
                </c:pt>
              </c:strCache>
            </c:strRef>
          </c:tx>
          <c:spPr>
            <a:solidFill>
              <a:srgbClr val="990011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B232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9001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F3C7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9001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90011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F3C7E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2F3C7E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Teor alcoólico</c:v>
                  </c:pt>
                  <c:pt idx="1">
                    <c:v>Acidez volátil</c:v>
                  </c:pt>
                  <c:pt idx="2">
                    <c:v>Sulfatos</c:v>
                  </c:pt>
                  <c:pt idx="3">
                    <c:v>Ácido cítrico</c:v>
                  </c:pt>
                  <c:pt idx="4">
                    <c:v>Cloretos</c:v>
                  </c:pt>
                  <c:pt idx="5">
                    <c:v>SO2 total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0.49</c:v>
                </c:pt>
                <c:pt idx="1">
                  <c:v>-0.39</c:v>
                </c:pt>
                <c:pt idx="2">
                  <c:v>0.38</c:v>
                </c:pt>
                <c:pt idx="3">
                  <c:v>0.22</c:v>
                </c:pt>
                <c:pt idx="4">
                  <c:v>-0.2</c:v>
                </c:pt>
                <c:pt idx="5">
                  <c:v>-0.2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2B232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B232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AE0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6F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Precisão</c:v>
                </c:pt>
              </c:strCache>
            </c:strRef>
          </c:tx>
          <c:spPr>
            <a:solidFill>
              <a:srgbClr val="2F3C7E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B232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Regressão
Logística</c:v>
                  </c:pt>
                  <c:pt idx="1">
                    <c:v>Random
Forest</c:v>
                  </c:pt>
                  <c:pt idx="2">
                    <c:v>Gradient
Boosting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0.344</c:v>
                </c:pt>
                <c:pt idx="1">
                  <c:v>0.593</c:v>
                </c:pt>
                <c:pt idx="2">
                  <c:v>0.606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DEB078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B232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Regressão
Logística</c:v>
                  </c:pt>
                  <c:pt idx="1">
                    <c:v>Random
Forest</c:v>
                  </c:pt>
                  <c:pt idx="2">
                    <c:v>Gradient
Boosting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0.764</c:v>
                </c:pt>
                <c:pt idx="1">
                  <c:v>0.291</c:v>
                </c:pt>
                <c:pt idx="2">
                  <c:v>0.364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AUC-ROC</c:v>
                </c:pt>
              </c:strCache>
            </c:strRef>
          </c:tx>
          <c:spPr>
            <a:solidFill>
              <a:srgbClr val="990011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B232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Regressão
Logística</c:v>
                  </c:pt>
                  <c:pt idx="1">
                    <c:v>Random
Forest</c:v>
                  </c:pt>
                  <c:pt idx="2">
                    <c:v>Gradient
Boosting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0.86</c:v>
                </c:pt>
                <c:pt idx="1">
                  <c:v>0.861</c:v>
                </c:pt>
                <c:pt idx="2">
                  <c:v>0.86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2B232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B232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AE0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6F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2B2320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Importância</c:v>
                </c:pt>
              </c:strCache>
            </c:strRef>
          </c:tx>
          <c:spPr>
            <a:solidFill>
              <a:srgbClr val="990011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B232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Álcool ÷ Densidade*</c:v>
                  </c:pt>
                  <c:pt idx="1">
                    <c:v>Teor alcoólico</c:v>
                  </c:pt>
                  <c:pt idx="2">
                    <c:v>Sulfatos</c:v>
                  </c:pt>
                  <c:pt idx="3">
                    <c:v>Acidez volátil</c:v>
                  </c:pt>
                  <c:pt idx="4">
                    <c:v>Ácido cítrico</c:v>
                  </c:pt>
                  <c:pt idx="5">
                    <c:v>Densidade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0.175</c:v>
                </c:pt>
                <c:pt idx="1">
                  <c:v>0.153</c:v>
                </c:pt>
                <c:pt idx="2">
                  <c:v>0.11</c:v>
                </c:pt>
                <c:pt idx="3">
                  <c:v>0.083</c:v>
                </c:pt>
                <c:pt idx="4">
                  <c:v>0.059</c:v>
                </c:pt>
                <c:pt idx="5">
                  <c:v>0.055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100" u="none">
                  <a:solidFill>
                    <a:srgbClr val="2B232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B232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AE0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6F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abertura. Apresentar o grupo e o tema: prever se um vinho é de alta qualidade a partir de dados físico-químicos.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o contexto de negócio e por que transformamos o problema em classificação binária. Falar em linguagem executiva, sem jargão técnico.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Apresentar o dataset: origem pública, 1.359 amostras após remoção de duplicatas, 11 variáveis originais + 3 features criadas.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 central da EDA: apenas 13,5% dos vinhos são de alta qualidade. Isso exige atenção especial na modelagem para não ignorar a classe minoritária.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Alcohol tem a correlação positiva mais forte; volatile acidity, a negativa mais forte. Sulphates e citric acid reforçam frescor/conservação do vinho.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o pipeline em 4 etapas, em linguagem simples: preparar os dados, treinar modelos, avaliar e interpretar.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Não existe um modelo 'vencedor' absoluto — a escolha depende do que a empresa valoriza mais: encontrar todos os vinhos bons (recall) ou ter certeza ao classificar (precisão).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teor alcoólico (isolado ou combinado com densidade) é, de longe, o fator mais determinante, seguido por sulfatos e acidez volátil.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Traduzir os achados técnicos em ações práticas de produção. Esta é a parte mais importante para diretores não técnicos.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Fechar reforçando o valor entregue e abrindo espaço para próximas iterações do projeto.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Encerramento.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C00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011680"/>
            <a:ext cx="5486400" cy="5486400"/>
          </a:xfrm>
          <a:prstGeom prst="ellipse">
            <a:avLst/>
          </a:prstGeom>
          <a:solidFill>
            <a:srgbClr val="990011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114800"/>
            <a:ext cx="4572000" cy="4572000"/>
          </a:xfrm>
          <a:prstGeom prst="ellipse">
            <a:avLst/>
          </a:prstGeom>
          <a:solidFill>
            <a:srgbClr val="DEB078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659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EB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CHALLENGE  |  FASE 2  |  POSTECH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2377440"/>
            <a:ext cx="10058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CF6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Classificando a Qualidade de Vinhos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CF6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 Machine Learning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42976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E8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Storytelling da Análise Exploratória de Dados e Modelagem Preditiva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6126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99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Wine Quality Dataset (UCI / Kaggle)  •  Classificação Binária de Qualidade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Desafio de Negócio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212080" cy="475488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005840" y="1691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05840" y="1920240"/>
            <a:ext cx="44805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avaliação de qualidade de vinhos é hoje feita por especialistas através de análise sensorial</a:t>
            </a:r>
            <a:endParaRPr lang="en-US" sz="14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 subjetivo, demorado e dependente da experiência de cada avaliador</a:t>
            </a:r>
            <a:endParaRPr lang="en-US" sz="14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45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físico-químicos são medidos objetivamente durante toda a produção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309360" y="1371600"/>
            <a:ext cx="5212080" cy="4754880"/>
          </a:xfrm>
          <a:prstGeom prst="roundRect">
            <a:avLst>
              <a:gd name="adj" fmla="val 2308"/>
            </a:avLst>
          </a:prstGeom>
          <a:solidFill>
            <a:srgbClr val="990011"/>
          </a:solidFill>
          <a:ln/>
          <a:effectLst>
            <a:outerShdw sx="100000" sy="100000" kx="0" ky="0" algn="bl" rotWithShape="0" blurRad="101600" dist="38100" dir="54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675120" y="1691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EB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Nosso Objetivo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675120" y="2194560"/>
            <a:ext cx="4480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Machine Learning para prever, a partir de características físico-químicas, se um vinho será classificado como: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675120" y="333756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EB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QUALIDADE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675120" y="37947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8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≥ 7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675120" y="434340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BAIXA / MÉDIA QUALIDADE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675120" y="48006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8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&lt; 7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Base de Dados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A6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Wine Quality Dataset — UCI Machine Learning Repository / Kaggle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251460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2148840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1.359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3108960"/>
            <a:ext cx="2514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amostras de vinho</a:t>
            </a:r>
            <a:endParaRPr lang="en-US" sz="13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(após limpeza)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74720" y="1920240"/>
            <a:ext cx="251460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74720" y="2148840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474720" y="3108960"/>
            <a:ext cx="2514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variáveis</a:t>
            </a:r>
            <a:endParaRPr lang="en-US" sz="13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físico-químicas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09360" y="1920240"/>
            <a:ext cx="251460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09360" y="2148840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240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309360" y="3108960"/>
            <a:ext cx="2514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duplicatas identificadas</a:t>
            </a:r>
            <a:endParaRPr lang="en-US" sz="13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removidas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144000" y="1920240"/>
            <a:ext cx="251460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44000" y="2148840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13,5%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9144000" y="3108960"/>
            <a:ext cx="2514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vinhos são de</a:t>
            </a:r>
            <a:endParaRPr lang="en-US" sz="13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Qualidade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470916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7A6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Variáveis: acidez fixa, acidez volátil, ácido cítrico, açúcar residual, cloretos, dióxido de enxofre livre e total, densidade, pH, sulfatos e teor alcoólico.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40080" y="52578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7A6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features adicionais foram criadas a partir do conhecimento de vinificação: acidez total combinada e razão entre teor alcoólico e densidade.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Problema Desbalanceado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640080" y="1371600"/>
          <a:ext cx="603504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6949440" y="1371600"/>
            <a:ext cx="4572000" cy="4389120"/>
          </a:xfrm>
          <a:prstGeom prst="roundRect">
            <a:avLst>
              <a:gd name="adj" fmla="val 2500"/>
            </a:avLst>
          </a:prstGeom>
          <a:solidFill>
            <a:srgbClr val="990011"/>
          </a:solidFill>
          <a:ln/>
        </p:spPr>
      </p:sp>
      <p:sp>
        <p:nvSpPr>
          <p:cNvPr id="5" name="Text 2"/>
          <p:cNvSpPr/>
          <p:nvPr/>
        </p:nvSpPr>
        <p:spPr>
          <a:xfrm>
            <a:off x="6949440" y="173736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CF6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86,5%</a:t>
            </a:r>
            <a:endParaRPr lang="en-US" sz="4600" dirty="0"/>
          </a:p>
        </p:txBody>
      </p:sp>
      <p:sp>
        <p:nvSpPr>
          <p:cNvPr id="6" name="Text 3"/>
          <p:cNvSpPr/>
          <p:nvPr/>
        </p:nvSpPr>
        <p:spPr>
          <a:xfrm>
            <a:off x="7223760" y="269748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E8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vinhos são de Baixa/Média Qualidade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7406640" y="3520440"/>
            <a:ext cx="3474720" cy="0"/>
          </a:xfrm>
          <a:prstGeom prst="line">
            <a:avLst/>
          </a:prstGeom>
          <a:noFill/>
          <a:ln w="12700">
            <a:solidFill>
              <a:srgbClr val="C05A5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949440" y="370332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DEB0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13,5%</a:t>
            </a:r>
            <a:endParaRPr lang="en-US" sz="4600" dirty="0"/>
          </a:p>
        </p:txBody>
      </p:sp>
      <p:sp>
        <p:nvSpPr>
          <p:cNvPr id="9" name="Text 6"/>
          <p:cNvSpPr/>
          <p:nvPr/>
        </p:nvSpPr>
        <p:spPr>
          <a:xfrm>
            <a:off x="7223760" y="466344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E8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vinhos são de Alta Qualidade (nota ≥ 7)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40080" y="59436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6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o modelo precisa lidar com esse desbalanceamento — priorizamos técnicas de ponderação de classes em vez de duplicar dados artificialmente.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Mais Influencia a Qualidade?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A6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Correlação (Spearman) de cada variável com a nota de qualidade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554480"/>
          <a:ext cx="1088136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Construímos o Modelo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531620" y="1828800"/>
            <a:ext cx="731520" cy="73152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4" name="Text 2"/>
          <p:cNvSpPr/>
          <p:nvPr/>
        </p:nvSpPr>
        <p:spPr>
          <a:xfrm>
            <a:off x="1531620" y="18288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CF6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2788920"/>
            <a:ext cx="251460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297180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Preparação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3429000"/>
            <a:ext cx="2240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Remoção de duplicatas,</a:t>
            </a:r>
            <a:endParaRPr lang="en-US" sz="12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criação de novas variáveis</a:t>
            </a:r>
            <a:endParaRPr lang="en-US" sz="12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padronização dos dados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154680" y="1828800"/>
            <a:ext cx="320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7A6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366260" y="1828800"/>
            <a:ext cx="731520" cy="73152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10" name="Text 8"/>
          <p:cNvSpPr/>
          <p:nvPr/>
        </p:nvSpPr>
        <p:spPr>
          <a:xfrm>
            <a:off x="4366260" y="18288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CF6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3474720" y="2788920"/>
            <a:ext cx="251460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474720" y="297180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Treinamento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11880" y="3429000"/>
            <a:ext cx="2240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algoritmos diferentes</a:t>
            </a:r>
            <a:endParaRPr lang="en-US" sz="12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treinados e validados</a:t>
            </a:r>
            <a:endParaRPr lang="en-US" sz="12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validação cruzada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989320" y="1828800"/>
            <a:ext cx="320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7A6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7200900" y="1828800"/>
            <a:ext cx="731520" cy="73152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16" name="Text 14"/>
          <p:cNvSpPr/>
          <p:nvPr/>
        </p:nvSpPr>
        <p:spPr>
          <a:xfrm>
            <a:off x="7200900" y="18288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CF6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6309360" y="2788920"/>
            <a:ext cx="251460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309360" y="297180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46520" y="3429000"/>
            <a:ext cx="2240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Comparação por acurácia,</a:t>
            </a:r>
            <a:endParaRPr lang="en-US" sz="12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precisão, recall, F1</a:t>
            </a:r>
            <a:endParaRPr lang="en-US" sz="12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AUC-ROC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823960" y="1828800"/>
            <a:ext cx="320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7A6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10035540" y="1828800"/>
            <a:ext cx="731520" cy="73152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22" name="Text 20"/>
          <p:cNvSpPr/>
          <p:nvPr/>
        </p:nvSpPr>
        <p:spPr>
          <a:xfrm>
            <a:off x="10035540" y="18288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CF6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9144000" y="2788920"/>
            <a:ext cx="251460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144000" y="297180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Interpretação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281160" y="3429000"/>
            <a:ext cx="2240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Identificação das variáveis</a:t>
            </a:r>
            <a:endParaRPr lang="en-US" sz="12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relevantes para</a:t>
            </a:r>
            <a:endParaRPr lang="en-US" sz="12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qualidade do vinho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40080" y="55778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comparados: Regressão Logística  •  Random Forest  •  Gradient Boosting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Comparando os Modelos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640080" y="1371600"/>
          <a:ext cx="108813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640080" y="57607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6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 muito próximo entre os 3 modelos (~0,86). A Regressão Logística identifica mais vinhos de alta qualidade (maior recall); os modelos de árvore erram menos ao classificar um vinho como "alta qualidade" (maior precisão).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Realmente Define um Vinho Bom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A6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das variáveis segundo o modelo Random Forest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554480"/>
          <a:ext cx="108813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8978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A6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Variável criada combinando teor alcoólico e densidade do vinho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5C00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CF6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Isso Significa Para a Produção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08760"/>
            <a:ext cx="10881360" cy="1325880"/>
          </a:xfrm>
          <a:prstGeom prst="roundRect">
            <a:avLst>
              <a:gd name="adj" fmla="val 6897"/>
            </a:avLst>
          </a:prstGeom>
          <a:solidFill>
            <a:srgbClr val="990011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1645920"/>
            <a:ext cx="3931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EB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acidez volátil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120640" y="1645920"/>
            <a:ext cx="6126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principal fator de risco de queda de qualidade — reforçar o controle contra oxidação e contaminação bacteriana.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3108960"/>
            <a:ext cx="10881360" cy="1325880"/>
          </a:xfrm>
          <a:prstGeom prst="roundRect">
            <a:avLst>
              <a:gd name="adj" fmla="val 6897"/>
            </a:avLst>
          </a:prstGeom>
          <a:solidFill>
            <a:srgbClr val="990011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3246120"/>
            <a:ext cx="3931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EB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Monitorar teor alcoólico e sulfatos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120640" y="3246120"/>
            <a:ext cx="6126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Ajustes cuidadosos no processo de fermentação, dentro do estilo do vinho, tendem a favorecer notas mais altas.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4709160"/>
            <a:ext cx="10881360" cy="1325880"/>
          </a:xfrm>
          <a:prstGeom prst="roundRect">
            <a:avLst>
              <a:gd name="adj" fmla="val 6897"/>
            </a:avLst>
          </a:prstGeom>
          <a:solidFill>
            <a:srgbClr val="990011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4846320"/>
            <a:ext cx="3931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EB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Triagem preditiva de lotes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120640" y="4846320"/>
            <a:ext cx="6126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pode sinalizar lotes com maior chance de nota baixa antes da avaliação sensorial, otimizando o tempo dos enólogos.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Conclusão e Próximos Passos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212080" cy="475488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005840" y="1691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entregamos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05840" y="2148840"/>
            <a:ext cx="448056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completo: da compreensão do problema à interpretação de negócio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modelos treinados e comparados com métricas robustas</a:t>
            </a:r>
            <a:endParaRPr lang="en-US" sz="14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4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Identificação clara das variáveis que mais influenciam a qualidade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309360" y="1371600"/>
            <a:ext cx="5212080" cy="4754880"/>
          </a:xfrm>
          <a:prstGeom prst="roundRect">
            <a:avLst>
              <a:gd name="adj" fmla="val 2308"/>
            </a:avLst>
          </a:prstGeom>
          <a:solidFill>
            <a:srgbClr val="2F3C7E"/>
          </a:solidFill>
          <a:ln/>
          <a:effectLst>
            <a:outerShdw sx="100000" sy="100000" kx="0" ky="0" algn="bl" rotWithShape="0" blurRad="101600" dist="38100" dir="54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675120" y="1691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EB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passos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675120" y="2148840"/>
            <a:ext cx="448056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Testar técnicas de balanceamento de classes (ex.: SMOTE)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 fino de hiperparâmetros dos modelos</a:t>
            </a:r>
            <a:endParaRPr lang="en-US" sz="14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4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o modelo também com a base de vinho branco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5C00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011680"/>
            <a:ext cx="5486400" cy="5486400"/>
          </a:xfrm>
          <a:prstGeom prst="ellipse">
            <a:avLst/>
          </a:prstGeom>
          <a:solidFill>
            <a:srgbClr val="990011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74320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CF6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Obrigado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37490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Tech Challenge — Fase 2 — POSTECH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Classificação de Qualidade de Vinhos com Machine Learning</dc:title>
  <dc:subject>PptxGenJS Presentation</dc:subject>
  <dc:creator>Grupo Tech Challenge - Fase 2 - POSTECH</dc:creator>
  <cp:lastModifiedBy>Grupo Tech Challenge - Fase 2 - POSTECH</cp:lastModifiedBy>
  <cp:revision>1</cp:revision>
  <dcterms:created xsi:type="dcterms:W3CDTF">2026-07-02T00:48:02Z</dcterms:created>
  <dcterms:modified xsi:type="dcterms:W3CDTF">2026-07-02T00:48:02Z</dcterms:modified>
</cp:coreProperties>
</file>